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371600"/>
            <a:ext cx="1828800" cy="1828800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84648" y="1627632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E6D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承脉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1200" kern="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承脉 AI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中华非遗智能传承与活化智能体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4892040"/>
            <a:ext cx="3959352" cy="0"/>
          </a:xfrm>
          <a:prstGeom prst="line">
            <a:avLst/>
          </a:prstGeom>
          <a:noFill/>
          <a:ln w="12700">
            <a:solidFill>
              <a:srgbClr val="E8C5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读懂非遗，让年轻人成为传承者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1264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华北五省（市、自治区）及港澳台大学生计算机应用大赛 · 大模型与智能体应用赛道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0"/>
          </a:xfrm>
          <a:prstGeom prst="line">
            <a:avLst/>
          </a:prstGeom>
          <a:noFill/>
          <a:ln w="9525">
            <a:solidFill>
              <a:srgbClr val="E8C5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承脉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非遗传承的三重困境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12984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097280" cy="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03120"/>
            <a:ext cx="3337560" cy="3474720"/>
          </a:xfrm>
          <a:prstGeom prst="roundRect">
            <a:avLst>
              <a:gd name="adj" fmla="val 2740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103120"/>
            <a:ext cx="3337560" cy="54864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317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散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005840" y="3291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E6D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知识散落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011680" y="3794760"/>
            <a:ext cx="960120" cy="0"/>
          </a:xfrm>
          <a:prstGeom prst="line">
            <a:avLst/>
          </a:prstGeom>
          <a:noFill/>
          <a:ln w="12700">
            <a:solidFill>
              <a:srgbClr val="B03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9776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非遗信息分散于政府名录、论文、新闻之中，缺乏结构化、可检索的统一入口。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2103120"/>
            <a:ext cx="3337560" cy="3474720"/>
          </a:xfrm>
          <a:prstGeom prst="roundRect">
            <a:avLst>
              <a:gd name="adj" fmla="val 2740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2103120"/>
            <a:ext cx="3337560" cy="54864"/>
          </a:xfrm>
          <a:prstGeom prst="rect">
            <a:avLst/>
          </a:prstGeom>
          <a:solidFill>
            <a:srgbClr val="E8C56B"/>
          </a:solidFill>
          <a:ln w="12700">
            <a:solidFill>
              <a:srgbClr val="E8C5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23317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远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709160" y="3291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E6D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距离感强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715000" y="3794760"/>
            <a:ext cx="960120" cy="0"/>
          </a:xfrm>
          <a:prstGeom prst="line">
            <a:avLst/>
          </a:prstGeom>
          <a:noFill/>
          <a:ln w="12700">
            <a:solidFill>
              <a:srgbClr val="E8C5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9776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年轻群体觉得非遗「老」「远」「看不懂」，传统叙事难以触达 Z 世代。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2103120"/>
            <a:ext cx="3337560" cy="3474720"/>
          </a:xfrm>
          <a:prstGeom prst="roundRect">
            <a:avLst>
              <a:gd name="adj" fmla="val 2740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2103120"/>
            <a:ext cx="3337560" cy="54864"/>
          </a:xfrm>
          <a:prstGeom prst="rect">
            <a:avLst/>
          </a:prstGeom>
          <a:solidFill>
            <a:srgbClr val="4F8F7B"/>
          </a:solidFill>
          <a:ln w="12700">
            <a:solidFill>
              <a:srgbClr val="4F8F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23317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8F7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断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412480" y="3291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E6D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传承断层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18320" y="3794760"/>
            <a:ext cx="960120" cy="0"/>
          </a:xfrm>
          <a:prstGeom prst="line">
            <a:avLst/>
          </a:prstGeom>
          <a:noFill/>
          <a:ln w="12700">
            <a:solidFill>
              <a:srgbClr val="4F8F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39776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 — 学习 — 参与 — 传播的链条断裂，多数人停留在「看过」，无法转化为传承行动。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0"/>
          </a:xfrm>
          <a:prstGeom prst="line">
            <a:avLst/>
          </a:prstGeom>
          <a:noFill/>
          <a:ln w="9525">
            <a:solidFill>
              <a:srgbClr val="E8C5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承脉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承脉 AI 的解法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12984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097280" cy="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5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不只是一个 AI 聊天机器人，而是一条完整的「传承闭环」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1C1814"/>
          </a:solidFill>
          <a:ln w="9525">
            <a:solidFill>
              <a:srgbClr val="E8C5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E8C5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6D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了解非遗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80160" y="3520440"/>
            <a:ext cx="731520" cy="0"/>
          </a:xfrm>
          <a:prstGeom prst="line">
            <a:avLst/>
          </a:prstGeom>
          <a:noFill/>
          <a:ln w="12700">
            <a:solidFill>
              <a:srgbClr val="E8C5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576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3299 项国家级名录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全量结构化 + 权威配图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51760" y="32918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8F80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26080" y="24688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1C1814"/>
          </a:solidFill>
          <a:ln w="9525">
            <a:solidFill>
              <a:srgbClr val="4F8F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4F8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6D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理解非遗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66160" y="3520440"/>
            <a:ext cx="731520" cy="0"/>
          </a:xfrm>
          <a:prstGeom prst="line">
            <a:avLst/>
          </a:prstGeom>
          <a:noFill/>
          <a:ln w="12700">
            <a:solidFill>
              <a:srgbClr val="4F8F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36576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三视角 AI 对话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+ 证据分可核验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32918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8F80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12080" y="24688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1C1814"/>
          </a:solidFill>
          <a:ln w="9525">
            <a:solidFill>
              <a:srgbClr val="B89A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B89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6D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学习非遗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52160" y="3520440"/>
            <a:ext cx="731520" cy="0"/>
          </a:xfrm>
          <a:prstGeom prst="line">
            <a:avLst/>
          </a:prstGeom>
          <a:noFill/>
          <a:ln w="12700">
            <a:solidFill>
              <a:srgbClr val="B89A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36576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个性化学习路径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 / 地图导航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223760" y="32918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8F80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98080" y="24688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1C1814"/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B03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6D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参与非遗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38160" y="3520440"/>
            <a:ext cx="731520" cy="0"/>
          </a:xfrm>
          <a:prstGeom prst="line">
            <a:avLst/>
          </a:prstGeom>
          <a:noFill/>
          <a:ln w="12700">
            <a:solidFill>
              <a:srgbClr val="B03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36576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活化实验室生成方案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文化护栏防跑偏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509760" y="32918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8F80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784080" y="24688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1C1814"/>
          </a:solidFill>
          <a:ln w="9525">
            <a:solidFill>
              <a:srgbClr val="4F8F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8408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4F8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78408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6D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传播非遗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424160" y="3520440"/>
            <a:ext cx="731520" cy="0"/>
          </a:xfrm>
          <a:prstGeom prst="line">
            <a:avLst/>
          </a:prstGeom>
          <a:noFill/>
          <a:ln w="12700">
            <a:solidFill>
              <a:srgbClr val="4F8F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21240" y="36576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非遗挑战 + 传承档案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徽章激励持续打卡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B89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用户需求 → 场景识别 → 知识检索 → 来源/证据校验 → 智能体规划 → 个性化回答/教学/创作 → 传承任务 → 学习档案 → 下一次推荐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0"/>
          </a:xfrm>
          <a:prstGeom prst="line">
            <a:avLst/>
          </a:prstGeom>
          <a:noFill/>
          <a:ln w="9525">
            <a:solidFill>
              <a:srgbClr val="E8C5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承脉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非遗数字化的广阔蓝海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12984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097280" cy="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774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3299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194560" y="3017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C5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80160" y="3657600"/>
            <a:ext cx="1280160" cy="0"/>
          </a:xfrm>
          <a:prstGeom prst="line">
            <a:avLst/>
          </a:prstGeom>
          <a:noFill/>
          <a:ln w="12700">
            <a:solidFill>
              <a:srgbClr val="E8C5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947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国家级非物质文化遗产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代表性项目名录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0" y="210312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3774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1557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5029200" y="3017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3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0" y="3657600"/>
            <a:ext cx="1280160" cy="0"/>
          </a:xfrm>
          <a:prstGeom prst="line">
            <a:avLst/>
          </a:prstGeom>
          <a:noFill/>
          <a:ln w="12700">
            <a:solidFill>
              <a:srgbClr val="B03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37947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国家级非遗代表性传承人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210312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3774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F8F7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10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7863840" y="3017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8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大门类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49440" y="3657600"/>
            <a:ext cx="1280160" cy="0"/>
          </a:xfrm>
          <a:prstGeom prst="line">
            <a:avLst/>
          </a:prstGeom>
          <a:noFill/>
          <a:ln w="12700">
            <a:solidFill>
              <a:srgbClr val="4F8F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7947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民间文学 / 传统音乐 / 舞蹈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戏剧 / 曲艺 / 体育游艺杂技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美术 / 技艺 / 医药 / 民俗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0" y="210312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0" y="23774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89A4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14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10698480" y="3017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9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亿+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784080" y="3657600"/>
            <a:ext cx="1280160" cy="0"/>
          </a:xfrm>
          <a:prstGeom prst="line">
            <a:avLst/>
          </a:prstGeom>
          <a:noFill/>
          <a:ln w="12700">
            <a:solidFill>
              <a:srgbClr val="B89A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0" y="37947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全国文化与自然遗产日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及各类非遗活动触达人次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5760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数据来源：中国非物质文化遗产网、文化和旅游部公开统计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0"/>
          </a:xfrm>
          <a:prstGeom prst="line">
            <a:avLst/>
          </a:prstGeom>
          <a:noFill/>
          <a:ln w="9525">
            <a:solidFill>
              <a:srgbClr val="E8C5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承脉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十屏叙事 · 一站式传承平台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12984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 OVERVIEW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097280" cy="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首页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今日非遗 / AI 推荐 / 地域探索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0" y="210312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2286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承脉 AI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63240" y="27889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三视角对话 + 证据分来源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210312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2286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知识库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49240" y="27889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3299 项名录 + 深读档案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210312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2286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知识图谱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35240" y="27889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 节点 D3 力导向星图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784080" y="210312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0" y="2286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非遗地图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21240" y="27889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d3-geo 中国地图地域着色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406908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51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学习路径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" y="47548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目标/天数/时长 个性化计划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26080" y="406908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4251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活化实验室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063240" y="47548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文化护栏 + 四宫格生成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12080" y="406908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4251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非遗挑战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349240" y="47548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正确率环 + 传承徽章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98080" y="406908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4251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传承档案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635240" y="47548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四类埋点 + 兴趣画像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784080" y="406908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0" y="4251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关于项目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921240" y="47548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 / 技术栈 / 来源声明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0"/>
          </a:xfrm>
          <a:prstGeom prst="line">
            <a:avLst/>
          </a:prstGeom>
          <a:noFill/>
          <a:ln w="9525">
            <a:solidFill>
              <a:srgbClr val="E8C5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承脉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承脉 AI · 三视角对话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12984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FEATURE 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097280" cy="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9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同一个问题，三种身份的回答 —— 让非遗有温度、有立场、有青春感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1C1814"/>
          </a:solidFill>
          <a:ln w="9525">
            <a:solidFill>
              <a:srgbClr val="4F8F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468880"/>
            <a:ext cx="3474720" cy="54864"/>
          </a:xfrm>
          <a:prstGeom prst="rect">
            <a:avLst/>
          </a:prstGeom>
          <a:solidFill>
            <a:srgbClr val="4F8F7B"/>
          </a:solidFill>
          <a:ln w="12700">
            <a:solidFill>
              <a:srgbClr val="4F8F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97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8F7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学者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博引旁征 · 考据严谨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3840480"/>
            <a:ext cx="914400" cy="0"/>
          </a:xfrm>
          <a:prstGeom prst="line">
            <a:avLst/>
          </a:prstGeom>
          <a:noFill/>
          <a:ln w="12700">
            <a:solidFill>
              <a:srgbClr val="4F8F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9776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以学术视角梳理源流、流派与演变，引用权威文献，回答附「来源 + 证据分」。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34840" y="246888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1C1814"/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2468880"/>
            <a:ext cx="3474720" cy="54864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697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传承人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43484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口传心授 · 匠人温度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15000" y="3840480"/>
            <a:ext cx="914400" cy="0"/>
          </a:xfrm>
          <a:prstGeom prst="line">
            <a:avLst/>
          </a:prstGeom>
          <a:noFill/>
          <a:ln w="12700">
            <a:solidFill>
              <a:srgbClr val="B03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9776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以第一人称讲述技艺背后的故事、口诀与手感，让用户触摸到传承的呼吸。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0" y="246888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1C1814"/>
          </a:solidFill>
          <a:ln w="9525">
            <a:solidFill>
              <a:srgbClr val="E8C5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2468880"/>
            <a:ext cx="3474720" cy="54864"/>
          </a:xfrm>
          <a:prstGeom prst="rect">
            <a:avLst/>
          </a:prstGeom>
          <a:solidFill>
            <a:srgbClr val="E8C56B"/>
          </a:solidFill>
          <a:ln w="12700">
            <a:solidFill>
              <a:srgbClr val="E8C5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2697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青年传播者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22960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网感表达 · 破圈传播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509760" y="3840480"/>
            <a:ext cx="914400" cy="0"/>
          </a:xfrm>
          <a:prstGeom prst="line">
            <a:avLst/>
          </a:prstGeom>
          <a:noFill/>
          <a:ln w="12700">
            <a:solidFill>
              <a:srgbClr val="E8C5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39776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Z 世代听得懂的语言拆解非遗，提炼潮玩化、社交化的传播点。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0"/>
          </a:xfrm>
          <a:prstGeom prst="line">
            <a:avLst/>
          </a:prstGeom>
          <a:noFill/>
          <a:ln w="9525">
            <a:solidFill>
              <a:srgbClr val="E8C5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承脉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非遗星图 · 知识图谱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12984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FEATURE 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097280" cy="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31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 节点 / 240 关系的 D3 力导向图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89864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986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大类 = 星座 · 省份 = 星团 · 深读 = 亮星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46557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346557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支持缩放、平移、搜索、点击详情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403250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403250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子图聚焦：从全局到局部的认知路径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459943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◆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45994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可视化非遗项目间的流派与地域关联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0" y="2834640"/>
            <a:ext cx="182880" cy="1280160"/>
          </a:xfrm>
          <a:prstGeom prst="line">
            <a:avLst/>
          </a:prstGeom>
          <a:noFill/>
          <a:ln w="6350">
            <a:solidFill>
              <a:srgbClr val="3A32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3383280"/>
            <a:ext cx="1554480" cy="731520"/>
          </a:xfrm>
          <a:prstGeom prst="line">
            <a:avLst/>
          </a:prstGeom>
          <a:noFill/>
          <a:ln w="6350">
            <a:solidFill>
              <a:srgbClr val="3A32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0" y="3200400"/>
            <a:ext cx="-1005840" cy="914400"/>
          </a:xfrm>
          <a:prstGeom prst="line">
            <a:avLst/>
          </a:prstGeom>
          <a:noFill/>
          <a:ln w="6350">
            <a:solidFill>
              <a:srgbClr val="3A32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4389120"/>
            <a:ext cx="1828800" cy="-274320"/>
          </a:xfrm>
          <a:prstGeom prst="line">
            <a:avLst/>
          </a:prstGeom>
          <a:noFill/>
          <a:ln w="6350">
            <a:solidFill>
              <a:srgbClr val="3A32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49840" y="4297680"/>
            <a:ext cx="-1280160" cy="-182880"/>
          </a:xfrm>
          <a:prstGeom prst="line">
            <a:avLst/>
          </a:prstGeom>
          <a:noFill/>
          <a:ln w="6350">
            <a:solidFill>
              <a:srgbClr val="3A32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4846320"/>
            <a:ext cx="914400" cy="-731520"/>
          </a:xfrm>
          <a:prstGeom prst="line">
            <a:avLst/>
          </a:prstGeom>
          <a:noFill/>
          <a:ln w="6350">
            <a:solidFill>
              <a:srgbClr val="3A32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9760" y="5029200"/>
            <a:ext cx="-640080" cy="-914400"/>
          </a:xfrm>
          <a:prstGeom prst="line">
            <a:avLst/>
          </a:prstGeom>
          <a:noFill/>
          <a:ln w="6350">
            <a:solidFill>
              <a:srgbClr val="3A32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657600"/>
            <a:ext cx="640080" cy="457200"/>
          </a:xfrm>
          <a:prstGeom prst="line">
            <a:avLst/>
          </a:prstGeom>
          <a:noFill/>
          <a:ln w="6350">
            <a:solidFill>
              <a:srgbClr val="3A32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26880" y="3749040"/>
            <a:ext cx="-457200" cy="365760"/>
          </a:xfrm>
          <a:prstGeom prst="line">
            <a:avLst/>
          </a:prstGeom>
          <a:noFill/>
          <a:ln w="6350">
            <a:solidFill>
              <a:srgbClr val="3A32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77072" y="2724912"/>
            <a:ext cx="219456" cy="219456"/>
          </a:xfrm>
          <a:prstGeom prst="ellipse">
            <a:avLst/>
          </a:prstGeom>
          <a:solidFill>
            <a:srgbClr val="E8C56B"/>
          </a:solidFill>
          <a:ln w="12700">
            <a:solidFill>
              <a:srgbClr val="E8C5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42048" y="3310128"/>
            <a:ext cx="146304" cy="146304"/>
          </a:xfrm>
          <a:prstGeom prst="ellipse">
            <a:avLst/>
          </a:prstGeom>
          <a:solidFill>
            <a:srgbClr val="B89A4E"/>
          </a:solidFill>
          <a:ln w="12700">
            <a:solidFill>
              <a:srgbClr val="B89A4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84080" y="3108960"/>
            <a:ext cx="182880" cy="182880"/>
          </a:xfrm>
          <a:prstGeom prst="ellipse">
            <a:avLst/>
          </a:prstGeom>
          <a:solidFill>
            <a:srgbClr val="E8C56B"/>
          </a:solidFill>
          <a:ln w="12700">
            <a:solidFill>
              <a:srgbClr val="E8C5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76872" y="4325112"/>
            <a:ext cx="128016" cy="128016"/>
          </a:xfrm>
          <a:prstGeom prst="ellipse">
            <a:avLst/>
          </a:prstGeom>
          <a:solidFill>
            <a:srgbClr val="B89A4E"/>
          </a:solidFill>
          <a:ln w="12700">
            <a:solidFill>
              <a:srgbClr val="B89A4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67544" y="4215384"/>
            <a:ext cx="164592" cy="164592"/>
          </a:xfrm>
          <a:prstGeom prst="ellipse">
            <a:avLst/>
          </a:prstGeom>
          <a:solidFill>
            <a:srgbClr val="E8C56B"/>
          </a:solidFill>
          <a:ln w="12700">
            <a:solidFill>
              <a:srgbClr val="E8C5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82128" y="4773168"/>
            <a:ext cx="146304" cy="146304"/>
          </a:xfrm>
          <a:prstGeom prst="ellipse">
            <a:avLst/>
          </a:prstGeom>
          <a:solidFill>
            <a:srgbClr val="B89A4E"/>
          </a:solidFill>
          <a:ln w="12700">
            <a:solidFill>
              <a:srgbClr val="B89A4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9176" y="4928616"/>
            <a:ext cx="201168" cy="201168"/>
          </a:xfrm>
          <a:prstGeom prst="ellipse">
            <a:avLst/>
          </a:prstGeom>
          <a:solidFill>
            <a:srgbClr val="E8C56B"/>
          </a:solidFill>
          <a:ln w="12700">
            <a:solidFill>
              <a:srgbClr val="E8C5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41664" y="3986784"/>
            <a:ext cx="256032" cy="256032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74736" y="3602736"/>
            <a:ext cx="109728" cy="109728"/>
          </a:xfrm>
          <a:prstGeom prst="ellipse">
            <a:avLst/>
          </a:prstGeom>
          <a:solidFill>
            <a:srgbClr val="B89A4E"/>
          </a:solidFill>
          <a:ln w="12700">
            <a:solidFill>
              <a:srgbClr val="B89A4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62872" y="3685032"/>
            <a:ext cx="128016" cy="128016"/>
          </a:xfrm>
          <a:prstGeom prst="ellipse">
            <a:avLst/>
          </a:prstGeom>
          <a:solidFill>
            <a:srgbClr val="B89A4E"/>
          </a:solidFill>
          <a:ln w="12700">
            <a:solidFill>
              <a:srgbClr val="B89A4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5577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非遗星图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0"/>
          </a:xfrm>
          <a:prstGeom prst="line">
            <a:avLst/>
          </a:prstGeom>
          <a:noFill/>
          <a:ln w="9525">
            <a:solidFill>
              <a:srgbClr val="E8C5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承脉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非遗地图 · 地域探索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12984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FEATURE 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097280" cy="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31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d3-geo 渲染中国地图，按省份非遗密度着色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89864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986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点击省份即可查看当地全部非遗项目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46557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346557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地域文化可视化：一眼看懂非遗分布格局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403250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403250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与知识库、图谱双向跳转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459943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◆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45994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15 个省级行政区的深读项目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0" y="3017520"/>
            <a:ext cx="731520" cy="548640"/>
          </a:xfrm>
          <a:prstGeom prst="roundRect">
            <a:avLst>
              <a:gd name="adj" fmla="val 5000"/>
            </a:avLst>
          </a:prstGeom>
          <a:solidFill>
            <a:srgbClr val="B03A2E">
              <a:alpha val="65000"/>
            </a:srgbClr>
          </a:solidFill>
          <a:ln w="3810">
            <a:solidFill>
              <a:srgbClr val="3A32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3566160"/>
            <a:ext cx="640080" cy="457200"/>
          </a:xfrm>
          <a:prstGeom prst="roundRect">
            <a:avLst>
              <a:gd name="adj" fmla="val 6000"/>
            </a:avLst>
          </a:prstGeom>
          <a:solidFill>
            <a:srgbClr val="E8C56B">
              <a:alpha val="65000"/>
            </a:srgbClr>
          </a:solidFill>
          <a:ln w="3810">
            <a:solidFill>
              <a:srgbClr val="3A32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3657600"/>
            <a:ext cx="640080" cy="548640"/>
          </a:xfrm>
          <a:prstGeom prst="roundRect">
            <a:avLst>
              <a:gd name="adj" fmla="val 5000"/>
            </a:avLst>
          </a:prstGeom>
          <a:solidFill>
            <a:srgbClr val="4F8F7B">
              <a:alpha val="65000"/>
            </a:srgbClr>
          </a:solidFill>
          <a:ln w="3810">
            <a:solidFill>
              <a:srgbClr val="3A32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0" y="4206240"/>
            <a:ext cx="822960" cy="640080"/>
          </a:xfrm>
          <a:prstGeom prst="roundRect">
            <a:avLst>
              <a:gd name="adj" fmla="val 4286"/>
            </a:avLst>
          </a:prstGeom>
          <a:solidFill>
            <a:srgbClr val="B89A4E">
              <a:alpha val="65000"/>
            </a:srgbClr>
          </a:solidFill>
          <a:ln w="3810">
            <a:solidFill>
              <a:srgbClr val="3A32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9680" y="4846320"/>
            <a:ext cx="731520" cy="548640"/>
          </a:xfrm>
          <a:prstGeom prst="roundRect">
            <a:avLst>
              <a:gd name="adj" fmla="val 5000"/>
            </a:avLst>
          </a:prstGeom>
          <a:solidFill>
            <a:srgbClr val="E8C56B">
              <a:alpha val="65000"/>
            </a:srgbClr>
          </a:solidFill>
          <a:ln w="3810">
            <a:solidFill>
              <a:srgbClr val="3A32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4937760"/>
            <a:ext cx="640080" cy="640080"/>
          </a:xfrm>
          <a:prstGeom prst="roundRect">
            <a:avLst>
              <a:gd name="adj" fmla="val 4286"/>
            </a:avLst>
          </a:prstGeom>
          <a:solidFill>
            <a:srgbClr val="B03A2E">
              <a:alpha val="65000"/>
            </a:srgbClr>
          </a:solidFill>
          <a:ln w="3810">
            <a:solidFill>
              <a:srgbClr val="3A32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52560" y="5394960"/>
            <a:ext cx="640080" cy="548640"/>
          </a:xfrm>
          <a:prstGeom prst="roundRect">
            <a:avLst>
              <a:gd name="adj" fmla="val 5000"/>
            </a:avLst>
          </a:prstGeom>
          <a:solidFill>
            <a:srgbClr val="4F8F7B">
              <a:alpha val="65000"/>
            </a:srgbClr>
          </a:solidFill>
          <a:ln w="3810">
            <a:solidFill>
              <a:srgbClr val="3A32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0" y="5577840"/>
            <a:ext cx="548640" cy="457200"/>
          </a:xfrm>
          <a:prstGeom prst="roundRect">
            <a:avLst>
              <a:gd name="adj" fmla="val 6000"/>
            </a:avLst>
          </a:prstGeom>
          <a:solidFill>
            <a:srgbClr val="B89A4E">
              <a:alpha val="65000"/>
            </a:srgbClr>
          </a:solidFill>
          <a:ln w="3810">
            <a:solidFill>
              <a:srgbClr val="3A32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5120640"/>
            <a:ext cx="548640" cy="731520"/>
          </a:xfrm>
          <a:prstGeom prst="roundRect">
            <a:avLst>
              <a:gd name="adj" fmla="val 5000"/>
            </a:avLst>
          </a:prstGeom>
          <a:solidFill>
            <a:srgbClr val="E8C56B">
              <a:alpha val="65000"/>
            </a:srgbClr>
          </a:solidFill>
          <a:ln w="3810">
            <a:solidFill>
              <a:srgbClr val="3A32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4389120"/>
            <a:ext cx="457200" cy="640080"/>
          </a:xfrm>
          <a:prstGeom prst="roundRect">
            <a:avLst>
              <a:gd name="adj" fmla="val 6000"/>
            </a:avLst>
          </a:prstGeom>
          <a:solidFill>
            <a:srgbClr val="4F8F7B">
              <a:alpha val="65000"/>
            </a:srgbClr>
          </a:solidFill>
          <a:ln w="3810">
            <a:solidFill>
              <a:srgbClr val="3A32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5577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地域密度着色示意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0"/>
          </a:xfrm>
          <a:prstGeom prst="line">
            <a:avLst/>
          </a:prstGeom>
          <a:noFill/>
          <a:ln w="9525">
            <a:solidFill>
              <a:srgbClr val="E8C5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承脉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学习路径 · 活化实验室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12984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FEATURE 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097280" cy="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402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书山卷阶 · 学习路径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7889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56B"/>
                </a:solidFill>
              </a:rPr>
              <a:t>◆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/ 天数 / 每日时长自由组合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2918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56B"/>
                </a:solidFill>
              </a:rPr>
              <a:t>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从入门了解 → 深入掌握 → 讲给别人听三档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3794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56B"/>
                </a:solidFill>
              </a:rPr>
              <a:t>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3/7/14 天计划，每日任务打卡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4297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56B"/>
                </a:solidFill>
              </a:rPr>
              <a:t>◆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进度条本地持久化，断网也能学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4800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56B"/>
                </a:solidFill>
              </a:rPr>
              <a:t>◆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" y="4800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书山卷阶剪影：步步为营的视觉隐喻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210312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2402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活化实验室 · AI 生成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27889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3A2E"/>
                </a:solidFill>
              </a:rPr>
              <a:t>◆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方案类型 / 风格 / 受众三维可选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92240" y="32918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3A2E"/>
                </a:solidFill>
              </a:rPr>
              <a:t>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文化护栏：生成内容须符合非遗内核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92240" y="3794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3A2E"/>
                </a:solidFill>
              </a:rPr>
              <a:t>◆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6656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四宫格分步引导，降低创作门槛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92240" y="4297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3A2E"/>
                </a:solidFill>
              </a:rPr>
              <a:t>◆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历史方案本地存档，可回溯迭代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92240" y="4800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3A2E"/>
                </a:solidFill>
              </a:rPr>
              <a:t>◆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66560" y="4800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把「了解」转化为「参与创造」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0"/>
          </a:xfrm>
          <a:prstGeom prst="line">
            <a:avLst/>
          </a:prstGeom>
          <a:noFill/>
          <a:ln w="9525">
            <a:solidFill>
              <a:srgbClr val="E8C5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承脉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非遗挑战 · 传承档案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12984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FEATURE 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097280" cy="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402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F7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非遗挑战 · 游戏化学习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8346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F7B"/>
                </a:solidFill>
              </a:rPr>
              <a:t>◆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分主题答题，正确率环可视化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3832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F7B"/>
                </a:solidFill>
              </a:rPr>
              <a:t>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传承徽章体系，激励持续挑战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39319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F7B"/>
                </a:solidFill>
              </a:rPr>
              <a:t>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错题本记录薄弱项，针对性复习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4480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F7B"/>
                </a:solidFill>
              </a:rPr>
              <a:t>◆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每日打卡，培养学习习惯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210312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2402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A4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传承档案 · 学习画像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28346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A4E"/>
                </a:solidFill>
              </a:rPr>
              <a:t>◆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6656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 / 计划 / 测验 / 创作 四类埋点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0" y="33832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A4E"/>
                </a:solidFill>
              </a:rPr>
              <a:t>◆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自动生成个人兴趣画像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92240" y="39319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A4E"/>
                </a:solidFill>
              </a:rPr>
              <a:t>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学习路径据此个性化推荐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92240" y="4480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A4E"/>
                </a:solidFill>
              </a:rPr>
              <a:t>◆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6656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成长轨迹可视化，见证传承之路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0"/>
          </a:xfrm>
          <a:prstGeom prst="line">
            <a:avLst/>
          </a:prstGeom>
          <a:noFill/>
          <a:ln w="9525">
            <a:solidFill>
              <a:srgbClr val="E8C5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承脉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知识库 · 全量可信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12984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 BASE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097280" cy="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C1814"/>
          </a:solidFill>
          <a:ln w="9525">
            <a:solidFill>
              <a:srgbClr val="E8C5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3299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1280160" y="3200400"/>
            <a:ext cx="1280160" cy="0"/>
          </a:xfrm>
          <a:prstGeom prst="line">
            <a:avLst/>
          </a:prstGeom>
          <a:noFill/>
          <a:ln w="12700">
            <a:solidFill>
              <a:srgbClr val="E8C5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375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项国家级非遗名录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全量结构化收录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210312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C1814"/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286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49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4114800" y="3200400"/>
            <a:ext cx="1280160" cy="0"/>
          </a:xfrm>
          <a:prstGeom prst="line">
            <a:avLst/>
          </a:prstGeom>
          <a:noFill/>
          <a:ln w="12700">
            <a:solidFill>
              <a:srgbClr val="B03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33375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项「苏绣级」深读档案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钩子/冷知识/时间线/代表作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210312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C1814"/>
          </a:solidFill>
          <a:ln w="9525">
            <a:solidFill>
              <a:srgbClr val="4F8F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286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8F7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15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6949440" y="3200400"/>
            <a:ext cx="1280160" cy="0"/>
          </a:xfrm>
          <a:prstGeom prst="line">
            <a:avLst/>
          </a:prstGeom>
          <a:noFill/>
          <a:ln w="12700">
            <a:solidFill>
              <a:srgbClr val="4F8F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3375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个省级行政区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深读项目地域覆盖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0" y="210312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C1814"/>
          </a:solidFill>
          <a:ln w="9525">
            <a:solidFill>
              <a:srgbClr val="B89A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286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9A4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100%</a:t>
            </a:r>
            <a:endParaRPr lang="en-US" sz="3800" dirty="0"/>
          </a:p>
        </p:txBody>
      </p:sp>
      <p:sp>
        <p:nvSpPr>
          <p:cNvPr id="22" name="Shape 20"/>
          <p:cNvSpPr/>
          <p:nvPr/>
        </p:nvSpPr>
        <p:spPr>
          <a:xfrm>
            <a:off x="9784080" y="3200400"/>
            <a:ext cx="1280160" cy="0"/>
          </a:xfrm>
          <a:prstGeom prst="line">
            <a:avLst/>
          </a:prstGeom>
          <a:noFill/>
          <a:ln w="12700">
            <a:solidFill>
              <a:srgbClr val="B89A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0" y="33375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配图覆盖 + 版权标注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credits.json 逐张记录许可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信源原则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8F7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5120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中国非物质文化遗产网 · 中国政府网 · 光明日报等权威出处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5440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8F7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88720" y="5440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 AI 回答附「来源 + 证据分」，可溯源、不编造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5760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8F7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5760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配图采用 Commons 实拍 + 程序生成纹样字卡，许可如实声明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" y="6080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8F7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88720" y="6080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宁缺毋滥：不确定的内容不写，空缺用兜底如实标注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0"/>
          </a:xfrm>
          <a:prstGeom prst="line">
            <a:avLst/>
          </a:prstGeom>
          <a:noFill/>
          <a:ln w="9525">
            <a:solidFill>
              <a:srgbClr val="E8C5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承脉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12984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097280" cy="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2926080" cy="594360"/>
          </a:xfrm>
          <a:prstGeom prst="roundRect">
            <a:avLst>
              <a:gd name="adj" fmla="val 7692"/>
            </a:avLst>
          </a:prstGeom>
          <a:solidFill>
            <a:srgbClr val="E8C56B"/>
          </a:solidFill>
          <a:ln w="12700">
            <a:solidFill>
              <a:srgbClr val="E8C5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10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前端表现层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49040" y="2103120"/>
            <a:ext cx="7680960" cy="594360"/>
          </a:xfrm>
          <a:prstGeom prst="roundRect">
            <a:avLst>
              <a:gd name="adj" fmla="val 7692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2103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 · TypeScript · Vite · D3.js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852928"/>
            <a:ext cx="2926080" cy="594360"/>
          </a:xfrm>
          <a:prstGeom prst="roundRect">
            <a:avLst>
              <a:gd name="adj" fmla="val 7692"/>
            </a:avLst>
          </a:prstGeom>
          <a:solidFill>
            <a:srgbClr val="4F8F7B"/>
          </a:solidFill>
          <a:ln w="12700">
            <a:solidFill>
              <a:srgbClr val="4F8F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10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AI 智能体层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49040" y="2852928"/>
            <a:ext cx="7680960" cy="594360"/>
          </a:xfrm>
          <a:prstGeom prst="roundRect">
            <a:avLst>
              <a:gd name="adj" fmla="val 7692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85292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协作 · Intent 识别 · RAG 检索 · 知识图谱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602736"/>
            <a:ext cx="2926080" cy="594360"/>
          </a:xfrm>
          <a:prstGeom prst="roundRect">
            <a:avLst>
              <a:gd name="adj" fmla="val 7692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02736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10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大模型层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49040" y="3602736"/>
            <a:ext cx="7680960" cy="594360"/>
          </a:xfrm>
          <a:prstGeom prst="roundRect">
            <a:avLst>
              <a:gd name="adj" fmla="val 7692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3602736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DashScope Qwen-Plus（对话/生成） · text-embedding-v3（向量）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2926080" cy="594360"/>
          </a:xfrm>
          <a:prstGeom prst="roundRect">
            <a:avLst>
              <a:gd name="adj" fmla="val 7692"/>
            </a:avLst>
          </a:prstGeom>
          <a:solidFill>
            <a:srgbClr val="B89A4E"/>
          </a:solidFill>
          <a:ln w="12700">
            <a:solidFill>
              <a:srgbClr val="B89A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352544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10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后端服务层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749040" y="4352544"/>
            <a:ext cx="7680960" cy="594360"/>
          </a:xfrm>
          <a:prstGeom prst="roundRect">
            <a:avLst>
              <a:gd name="adj" fmla="val 7692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4352544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· PBKDF2 鉴权 · HMAC 令牌 · 会话/进度存储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102352"/>
            <a:ext cx="2926080" cy="594360"/>
          </a:xfrm>
          <a:prstGeom prst="roundRect">
            <a:avLst>
              <a:gd name="adj" fmla="val 7692"/>
            </a:avLst>
          </a:prstGeom>
          <a:solidFill>
            <a:srgbClr val="9A8F80"/>
          </a:solidFill>
          <a:ln w="12700">
            <a:solidFill>
              <a:srgbClr val="9A8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0235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10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749040" y="5102352"/>
            <a:ext cx="7680960" cy="594360"/>
          </a:xfrm>
          <a:prstGeom prst="roundRect">
            <a:avLst>
              <a:gd name="adj" fmla="val 7692"/>
            </a:avLst>
          </a:prstGeom>
          <a:solidFill>
            <a:srgbClr val="1C1814"/>
          </a:solidFill>
          <a:ln w="6350">
            <a:solidFill>
              <a:srgbClr val="3A32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510235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 JSON 知识库 · 向量库 · 中国地图 GeoJSON · Commons 配图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9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架构亮点：前后端分离 · 多智能体编排 · RAG 增强 · 全量结构化数据 · 鉴权安全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0"/>
          </a:xfrm>
          <a:prstGeom prst="line">
            <a:avLst/>
          </a:prstGeom>
          <a:noFill/>
          <a:ln w="9525">
            <a:solidFill>
              <a:srgbClr val="E8C5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承脉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为什么是承脉 AI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12984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097280" cy="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1C1814"/>
          </a:solidFill>
          <a:ln w="6350">
            <a:solidFill>
              <a:srgbClr val="E8C5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40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全量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914400" cy="0"/>
          </a:xfrm>
          <a:prstGeom prst="line">
            <a:avLst/>
          </a:prstGeom>
          <a:noFill/>
          <a:ln w="12700">
            <a:solidFill>
              <a:srgbClr val="E8C5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346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3299 项国家级名录全覆盖，竞品多为零散条目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1C1814"/>
          </a:solidFill>
          <a:ln w="6350">
            <a:solidFill>
              <a:srgbClr val="B03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240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深度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72000" y="2743200"/>
            <a:ext cx="914400" cy="0"/>
          </a:xfrm>
          <a:prstGeom prst="line">
            <a:avLst/>
          </a:prstGeom>
          <a:noFill/>
          <a:ln w="12700">
            <a:solidFill>
              <a:srgbClr val="B03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8346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 项深读档案，钩子/冷知识/数字亮点/时间线多维度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8160" y="210312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1C1814"/>
          </a:solidFill>
          <a:ln w="6350">
            <a:solidFill>
              <a:srgbClr val="4F8F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240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F7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可信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321040" y="2743200"/>
            <a:ext cx="914400" cy="0"/>
          </a:xfrm>
          <a:prstGeom prst="line">
            <a:avLst/>
          </a:prstGeom>
          <a:noFill/>
          <a:ln w="12700">
            <a:solidFill>
              <a:srgbClr val="4F8F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8346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回答带来源 + 证据分，信源可核验、不编造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1C1814"/>
          </a:solidFill>
          <a:ln w="6350">
            <a:solidFill>
              <a:srgbClr val="B89A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069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A4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闭环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22960" y="4572000"/>
            <a:ext cx="914400" cy="0"/>
          </a:xfrm>
          <a:prstGeom prst="line">
            <a:avLst/>
          </a:prstGeom>
          <a:noFill/>
          <a:ln w="12700">
            <a:solidFill>
              <a:srgbClr val="B89A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6634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了解—理解—学习—参与—传播 完整传承链路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393192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1C1814"/>
          </a:solidFill>
          <a:ln w="6350">
            <a:solidFill>
              <a:srgbClr val="E8C5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4069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多模态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572000" y="4572000"/>
            <a:ext cx="914400" cy="0"/>
          </a:xfrm>
          <a:prstGeom prst="line">
            <a:avLst/>
          </a:prstGeom>
          <a:noFill/>
          <a:ln w="12700">
            <a:solidFill>
              <a:srgbClr val="E8C5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46634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对话/图谱/地图/路径/实验/挑战/档案 七入口互达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38160" y="393192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1C1814"/>
          </a:solidFill>
          <a:ln w="6350">
            <a:solidFill>
              <a:srgbClr val="B03A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4069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审美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8321040" y="4572000"/>
            <a:ext cx="914400" cy="0"/>
          </a:xfrm>
          <a:prstGeom prst="line">
            <a:avLst/>
          </a:prstGeom>
          <a:noFill/>
          <a:ln w="12700">
            <a:solidFill>
              <a:srgbClr val="B03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46634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墨韵金典国风视觉，克制不炫技，高级有中国味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0"/>
          </a:xfrm>
          <a:prstGeom prst="line">
            <a:avLst/>
          </a:prstGeom>
          <a:noFill/>
          <a:ln w="9525">
            <a:solidFill>
              <a:srgbClr val="E8C5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承脉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团队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12984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097280" cy="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28600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1C1814"/>
          </a:solidFill>
          <a:ln w="9525">
            <a:solidFill>
              <a:srgbClr val="E8C5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2514600"/>
            <a:ext cx="914400" cy="914400"/>
          </a:xfrm>
          <a:prstGeom prst="ellipse">
            <a:avLst/>
          </a:prstGeom>
          <a:solidFill>
            <a:srgbClr val="E8C56B">
              <a:alpha val="80000"/>
            </a:srgbClr>
          </a:solidFill>
          <a:ln w="12700">
            <a:solidFill>
              <a:srgbClr val="E8C5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2606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110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周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E6D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周子昊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E8C5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Agent 总工程师 + 前端 UI/UX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57400" y="4434840"/>
            <a:ext cx="914400" cy="0"/>
          </a:xfrm>
          <a:prstGeom prst="line">
            <a:avLst/>
          </a:prstGeom>
          <a:noFill/>
          <a:ln w="12700">
            <a:solidFill>
              <a:srgbClr val="E8C5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5262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 · RAG · Agent · 知识图谱 · 页面与交互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28600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1C1814"/>
          </a:solidFill>
          <a:ln w="9525">
            <a:solidFill>
              <a:srgbClr val="4F8F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06440" y="2514600"/>
            <a:ext cx="914400" cy="914400"/>
          </a:xfrm>
          <a:prstGeom prst="ellipse">
            <a:avLst/>
          </a:prstGeom>
          <a:solidFill>
            <a:srgbClr val="4F8F7B">
              <a:alpha val="80000"/>
            </a:srgbClr>
          </a:solidFill>
          <a:ln w="12700">
            <a:solidFill>
              <a:srgbClr val="4F8F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606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110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马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572000" y="3566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E6D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马占赟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0" y="4023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4F8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/ 数据 / 部署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06440" y="4434840"/>
            <a:ext cx="914400" cy="0"/>
          </a:xfrm>
          <a:prstGeom prst="line">
            <a:avLst/>
          </a:prstGeom>
          <a:noFill/>
          <a:ln w="12700">
            <a:solidFill>
              <a:srgbClr val="4F8F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45262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· 数据管线 · Docker · 公网部署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21040" y="228600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1C1814"/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55480" y="2514600"/>
            <a:ext cx="914400" cy="914400"/>
          </a:xfrm>
          <a:prstGeom prst="ellipse">
            <a:avLst/>
          </a:prstGeom>
          <a:solidFill>
            <a:srgbClr val="B03A2E">
              <a:alpha val="80000"/>
            </a:srgbClr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55480" y="2606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110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李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8321040" y="3566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E6D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李思雨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21040" y="4023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B03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 / 质量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555480" y="4434840"/>
            <a:ext cx="914400" cy="0"/>
          </a:xfrm>
          <a:prstGeom prst="line">
            <a:avLst/>
          </a:prstGeom>
          <a:noFill/>
          <a:ln w="12700">
            <a:solidFill>
              <a:srgbClr val="B03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9640" y="45262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知识库内容编校与来源核验 · 用户体验测试 · 演示材料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0"/>
          </a:xfrm>
          <a:prstGeom prst="line">
            <a:avLst/>
          </a:prstGeom>
          <a:noFill/>
          <a:ln w="9525">
            <a:solidFill>
              <a:srgbClr val="E8C5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承脉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演进路线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12984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097280" cy="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8600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1C1814"/>
          </a:solidFill>
          <a:ln w="9525">
            <a:solidFill>
              <a:srgbClr val="4F8F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86000"/>
            <a:ext cx="3474720" cy="457200"/>
          </a:xfrm>
          <a:prstGeom prst="rect">
            <a:avLst/>
          </a:prstGeom>
          <a:solidFill>
            <a:srgbClr val="4F8F7B"/>
          </a:solidFill>
          <a:ln w="12700">
            <a:solidFill>
              <a:srgbClr val="4F8F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10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V1.0 已完成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8F7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3299 项名录结构化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520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8F7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页核心功能上线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4069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8F7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三视角 AI 对话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4617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8F7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 + 地图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228600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1C1814"/>
          </a:solidFill>
          <a:ln w="9525">
            <a:solidFill>
              <a:srgbClr val="E8C5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0" y="2286000"/>
            <a:ext cx="3474720" cy="457200"/>
          </a:xfrm>
          <a:prstGeom prst="rect">
            <a:avLst/>
          </a:prstGeom>
          <a:solidFill>
            <a:srgbClr val="E8C56B"/>
          </a:solidFill>
          <a:ln w="12700">
            <a:solidFill>
              <a:srgbClr val="E8C5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10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V1.5 进行中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2971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索引层深读全量升级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3520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配图三层管线补全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4069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向量库全量重建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4617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公网部署上线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228600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1C1814"/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2286000"/>
            <a:ext cx="3474720" cy="457200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10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V2.0 规划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58200" y="2971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▸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73252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传承人入驻与认证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58200" y="3520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▸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3252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非遗短视频 AI 生成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58200" y="4069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▸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73252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社交传播与社区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58200" y="4617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3A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▸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73252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多端（小程序/APP）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560320"/>
            <a:ext cx="3959352" cy="0"/>
          </a:xfrm>
          <a:prstGeom prst="line">
            <a:avLst/>
          </a:prstGeom>
          <a:noFill/>
          <a:ln w="12700">
            <a:solidFill>
              <a:srgbClr val="E8C5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1200" kern="0" dirty="0">
                <a:solidFill>
                  <a:srgbClr val="E8C5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承脉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F0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读懂非遗，让年轻人成为传承者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0" y="4251960"/>
            <a:ext cx="3959352" cy="0"/>
          </a:xfrm>
          <a:prstGeom prst="line">
            <a:avLst/>
          </a:prstGeom>
          <a:noFill/>
          <a:ln w="12700">
            <a:solidFill>
              <a:srgbClr val="E8C5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600" kern="0" dirty="0">
                <a:solidFill>
                  <a:srgbClr val="9A8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 · 敬请指正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58521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9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github.com/zzh705/chengmai-ai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imSu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承脉AI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承脉AI — 中华非遗智能传承与活化智能体</dc:title>
  <dc:subject>路演演示</dc:subject>
  <dc:creator>承脉AI团队</dc:creator>
  <cp:lastModifiedBy>承脉AI团队</cp:lastModifiedBy>
  <cp:revision>1</cp:revision>
  <dcterms:created xsi:type="dcterms:W3CDTF">2026-09-30T16:40:42Z</dcterms:created>
  <dcterms:modified xsi:type="dcterms:W3CDTF">2026-09-30T16:40:42Z</dcterms:modified>
</cp:coreProperties>
</file>